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vsdx" ContentType="application/vnd.ms-visio.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46" r:id="rId1"/>
  </p:sldMasterIdLst>
  <p:sldIdLst>
    <p:sldId id="257" r:id="rId2"/>
    <p:sldId id="259" r:id="rId3"/>
    <p:sldId id="260" r:id="rId4"/>
    <p:sldId id="261" r:id="rId5"/>
    <p:sldId id="262" r:id="rId6"/>
    <p:sldId id="263" r:id="rId7"/>
    <p:sldId id="264" r:id="rId8"/>
    <p:sldId id="278" r:id="rId9"/>
    <p:sldId id="265" r:id="rId10"/>
    <p:sldId id="266" r:id="rId11"/>
    <p:sldId id="268" r:id="rId12"/>
    <p:sldId id="267" r:id="rId13"/>
    <p:sldId id="269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58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7" autoAdjust="0"/>
    <p:restoredTop sz="94660"/>
  </p:normalViewPr>
  <p:slideViewPr>
    <p:cSldViewPr snapToGrid="0">
      <p:cViewPr varScale="1">
        <p:scale>
          <a:sx n="91" d="100"/>
          <a:sy n="91" d="100"/>
        </p:scale>
        <p:origin x="40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image" Target="../media/image6.emf"/><Relationship Id="rId5" Type="http://schemas.openxmlformats.org/officeDocument/2006/relationships/image" Target="../media/image10.emf"/><Relationship Id="rId4" Type="http://schemas.openxmlformats.org/officeDocument/2006/relationships/image" Target="../media/image9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6/10/2020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6/10/2020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6/10/2020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6/10/2020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6/10/2020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6/10/2020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6/10/2020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6/10/2020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6/10/2020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6/10/2020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6/10/2020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6/10/2020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Drawing.vsd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5.e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package" Target="../embeddings/Microsoft_Visio_Drawing1.vsdx"/><Relationship Id="rId7" Type="http://schemas.openxmlformats.org/officeDocument/2006/relationships/package" Target="../embeddings/Microsoft_Visio_Drawing3.vsdx"/><Relationship Id="rId12" Type="http://schemas.openxmlformats.org/officeDocument/2006/relationships/image" Target="../media/image10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emf"/><Relationship Id="rId11" Type="http://schemas.openxmlformats.org/officeDocument/2006/relationships/package" Target="../embeddings/Microsoft_Visio_Drawing5.vsdx"/><Relationship Id="rId5" Type="http://schemas.openxmlformats.org/officeDocument/2006/relationships/package" Target="../embeddings/Microsoft_Visio_Drawing2.vsdx"/><Relationship Id="rId10" Type="http://schemas.openxmlformats.org/officeDocument/2006/relationships/image" Target="../media/image9.emf"/><Relationship Id="rId4" Type="http://schemas.openxmlformats.org/officeDocument/2006/relationships/image" Target="../media/image6.emf"/><Relationship Id="rId9" Type="http://schemas.openxmlformats.org/officeDocument/2006/relationships/package" Target="../embeddings/Microsoft_Visio_Drawing4.vsdx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27754" y="260726"/>
            <a:ext cx="6253317" cy="202001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8000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Proprsal</a:t>
            </a:r>
            <a:br>
              <a:rPr lang="en-US" sz="8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000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Tugas</a:t>
            </a:r>
            <a:r>
              <a:rPr lang="en-US" sz="8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Akhir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083643"/>
            <a:ext cx="6269347" cy="1021498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Oleh: Kelvin Anggara</a:t>
            </a: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ubtitle 2">
            <a:extLst>
              <a:ext uri="{FF2B5EF4-FFF2-40B4-BE49-F238E27FC236}">
                <a16:creationId xmlns:a16="http://schemas.microsoft.com/office/drawing/2014/main" id="{46A9659D-D9EA-45DB-92B3-57BCB9B87B04}"/>
              </a:ext>
            </a:extLst>
          </p:cNvPr>
          <p:cNvSpPr txBox="1">
            <a:spLocks/>
          </p:cNvSpPr>
          <p:nvPr/>
        </p:nvSpPr>
        <p:spPr>
          <a:xfrm>
            <a:off x="5289753" y="2394326"/>
            <a:ext cx="6755102" cy="14460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i="1" dirty="0"/>
              <a:t>Smart Early Warning System </a:t>
            </a:r>
            <a:r>
              <a:rPr lang="en-US" b="1" dirty="0" err="1"/>
              <a:t>untuk</a:t>
            </a:r>
            <a:r>
              <a:rPr lang="en-US" b="1" dirty="0"/>
              <a:t> </a:t>
            </a:r>
            <a:r>
              <a:rPr lang="en-US" b="1" dirty="0" err="1"/>
              <a:t>keamanan</a:t>
            </a:r>
            <a:r>
              <a:rPr lang="en-US" b="1" dirty="0"/>
              <a:t> </a:t>
            </a:r>
            <a:r>
              <a:rPr lang="en-US" b="1" dirty="0" err="1"/>
              <a:t>sepeda</a:t>
            </a:r>
            <a:r>
              <a:rPr lang="en-US" b="1" dirty="0"/>
              <a:t> motor </a:t>
            </a:r>
            <a:r>
              <a:rPr lang="en-US" b="1" dirty="0" err="1"/>
              <a:t>berbasis</a:t>
            </a:r>
            <a:r>
              <a:rPr lang="en-US" b="1" dirty="0"/>
              <a:t> </a:t>
            </a:r>
            <a:r>
              <a:rPr lang="en-US" b="1" dirty="0" err="1"/>
              <a:t>prosesor</a:t>
            </a:r>
            <a:r>
              <a:rPr lang="en-US" b="1" dirty="0"/>
              <a:t> </a:t>
            </a:r>
            <a:r>
              <a:rPr lang="en-US" b="1" dirty="0" err="1"/>
              <a:t>Xtensa</a:t>
            </a:r>
            <a:r>
              <a:rPr lang="en-US" b="1" dirty="0"/>
              <a:t> LX6</a:t>
            </a:r>
            <a:endParaRPr lang="id-ID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F133E0B2-9C2E-42B9-B119-7ACFA0E01959}"/>
              </a:ext>
            </a:extLst>
          </p:cNvPr>
          <p:cNvSpPr txBox="1">
            <a:spLocks/>
          </p:cNvSpPr>
          <p:nvPr/>
        </p:nvSpPr>
        <p:spPr>
          <a:xfrm>
            <a:off x="5312327" y="4838425"/>
            <a:ext cx="5960374" cy="102149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Pembimbing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Oktaf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Brillian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Kharisma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S.T, M.T.</a:t>
            </a:r>
          </a:p>
        </p:txBody>
      </p: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77486-083D-46AE-93B1-4CFE23DDF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I</a:t>
            </a:r>
            <a:br>
              <a:rPr lang="en-US" b="1" dirty="0"/>
            </a:br>
            <a:r>
              <a:rPr lang="en-US" b="1" dirty="0" err="1"/>
              <a:t>Latar</a:t>
            </a:r>
            <a:r>
              <a:rPr lang="en-US" b="1" dirty="0"/>
              <a:t> </a:t>
            </a:r>
            <a:r>
              <a:rPr lang="en-US" b="1" dirty="0" err="1"/>
              <a:t>Belakang</a:t>
            </a:r>
            <a:endParaRPr lang="id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9B7CF-AFDF-4AA4-B153-B7E50C16CB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Pencurian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Sepeda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Motor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Badan Pusat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Statistik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37.871 	2016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35.226 	2017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27.731	2018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Kelalaian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Pengguan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Sepeda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Motor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Universitas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Islam Negeri Sultan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Syarif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Kasim Riau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Kasus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Kelalaian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Meneinggalkan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kunci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kontak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2019</a:t>
            </a:r>
          </a:p>
          <a:p>
            <a:pPr>
              <a:buFont typeface="Arial" panose="020B0604020202020204" pitchFamily="34" charset="0"/>
              <a:buChar char="•"/>
            </a:pPr>
            <a:endParaRPr lang="id-ID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7473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ACF9D-5124-4A0F-B034-BB726CFBC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Rumusan</a:t>
            </a:r>
            <a:r>
              <a:rPr lang="en-US" b="1" dirty="0"/>
              <a:t> </a:t>
            </a:r>
            <a:r>
              <a:rPr lang="en-US" b="1" dirty="0" err="1"/>
              <a:t>Masalah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4E1BD-B715-45E9-8B89-BD769F1092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Bagaimana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merancang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Early Warning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menggunakan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prosesor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Xtensa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LX6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meningkatkan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keamanan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pada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sepeda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motor?</a:t>
            </a:r>
            <a:endParaRPr lang="id-ID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9949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5DD70-EBD6-45E2-915F-33557A911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Tujuan</a:t>
            </a:r>
            <a:r>
              <a:rPr lang="en-US" b="1" dirty="0"/>
              <a:t> </a:t>
            </a:r>
            <a:r>
              <a:rPr lang="en-US" b="1" dirty="0" err="1"/>
              <a:t>Penelitian</a:t>
            </a:r>
            <a:endParaRPr lang="id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B96BB-C273-4F98-96BA-51FC50B51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membuat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alat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dipasang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pada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sepeda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motor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fungsi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utama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pengaman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peringatan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menggunakan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mikrokontroler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32-bit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prosesor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Xtensa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LX6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Memaksimalkan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keamana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pada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sepeda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motor.</a:t>
            </a:r>
            <a:endParaRPr lang="id-ID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622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C26F5-BA31-47DA-AB32-8B7DEE70B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Batasan </a:t>
            </a:r>
            <a:r>
              <a:rPr lang="en-US" b="1" dirty="0" err="1"/>
              <a:t>Masalah</a:t>
            </a:r>
            <a:endParaRPr lang="id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21F67-E5A4-49F2-89F2-3FBE2DCD24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57188" lvl="0" indent="-357188" algn="just"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Percobaan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pengembangan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menggunakan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sepeda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motor Supra X 125cc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tahun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2018.</a:t>
            </a:r>
            <a:endParaRPr lang="id-ID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7188" lvl="0" indent="-357188" algn="just"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menggunakan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mikrokontroler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berbasis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32-bit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prosesor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Xtensa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LX6.</a:t>
            </a:r>
            <a:endParaRPr lang="id-ID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7188" lvl="0" indent="-357188" algn="just"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memberikan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informasi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melalui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aplikasi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android dan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id-ID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0030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4B494-4503-4B39-B2EB-EE8E2C575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Manfaat</a:t>
            </a:r>
            <a:r>
              <a:rPr lang="en-US" b="1" dirty="0"/>
              <a:t> </a:t>
            </a:r>
            <a:r>
              <a:rPr lang="en-US" b="1" dirty="0" err="1"/>
              <a:t>Penelitian</a:t>
            </a:r>
            <a:endParaRPr lang="id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FCDF2-2527-40E6-BFC5-4DA4090F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57188" lvl="0" indent="-357188" algn="just"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Meningkatkan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keamanan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sekaligus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mencegah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tindak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pencurian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sepeda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motor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sehingga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memberikan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rasa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kepada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pemilik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kendaraan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id-ID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7188" lvl="0" indent="-357188" algn="just"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Memonitoring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keberadaan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sepeda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motor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menggunakan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aplikasi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android.</a:t>
            </a:r>
            <a:endParaRPr lang="id-ID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8547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B1366-EA01-476D-B322-4F0C7D24D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II</a:t>
            </a:r>
            <a:br>
              <a:rPr lang="en-US" b="1" dirty="0"/>
            </a:br>
            <a:r>
              <a:rPr lang="en-US" b="1" dirty="0"/>
              <a:t>TINJAUAN PUSTAKA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23A85E-015C-41F2-B129-664E4525ED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/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Literatur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7188" lvl="1" indent="-357188" algn="just"/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Dwi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Ely Kurniawan dan Muhamad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Naharus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Surur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3763" lvl="2" indent="-357188" algn="just"/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Perancangan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Pengamanan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Sepeda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Motor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Menggunakan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Mikrokontroler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Raspberry Pi dan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Smartphone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Android</a:t>
            </a:r>
          </a:p>
          <a:p>
            <a:pPr marL="893763" lvl="2" indent="-357188" algn="just"/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Pengaman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Sepeda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Motor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Berbasis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Perangkat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Bergerak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Notifikasi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Kendali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Mesin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6575" lvl="2" indent="0" algn="just">
              <a:buNone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7188" lvl="1" indent="-357188"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Rezki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Kasyr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Mubaroq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3763" lvl="2" indent="-357188" algn="just"/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Pengembangan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Pengaman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Pada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Sepeda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Motor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Menggunakan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Metode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Speech Recognition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712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ED211-AA4A-44D8-ACCA-B03C38989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II</a:t>
            </a:r>
            <a:br>
              <a:rPr lang="en-US" b="1" dirty="0"/>
            </a:br>
            <a:r>
              <a:rPr lang="en-US" b="1" dirty="0"/>
              <a:t>TINJAUAN PUSTAKA </a:t>
            </a:r>
            <a:r>
              <a:rPr lang="en-US" sz="2400" b="1" dirty="0"/>
              <a:t>(</a:t>
            </a:r>
            <a:r>
              <a:rPr lang="en-US" sz="2400" b="1" dirty="0" err="1"/>
              <a:t>lanjutan</a:t>
            </a:r>
            <a:r>
              <a:rPr lang="en-US" sz="2400" b="1" dirty="0"/>
              <a:t>)</a:t>
            </a:r>
            <a:endParaRPr lang="id-ID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51296-0940-4590-B014-08E5E9C9BB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57188" lvl="1" indent="-357188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M. Geetha dan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Sanggetha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</a:p>
          <a:p>
            <a:pPr marL="714375" lvl="2" indent="-357188"/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Anti-theft and Tracking Mechanism for Vehicles using GSM and GPS</a:t>
            </a:r>
          </a:p>
          <a:p>
            <a:pPr marL="714375" lvl="2" indent="-357188"/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7188" lvl="1" indent="-357188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Abu Taher Noman</a:t>
            </a:r>
          </a:p>
          <a:p>
            <a:pPr marL="714375" lvl="2" indent="-357188"/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Implementation of Microcontroller Based Anti-Theft Vehicle Security System using GPS, GSM and RFID</a:t>
            </a:r>
          </a:p>
          <a:p>
            <a:pPr marL="714375" lvl="2" indent="-357188"/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7188" lvl="1" indent="-357188"/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Tahesin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Altar</a:t>
            </a:r>
          </a:p>
          <a:p>
            <a:pPr marL="714375" lvl="2" indent="-357188"/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Attempt to Develop an IOT based Vehicle Security System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8718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B7D5E-9D51-4609-94C5-D4FA24CEE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III</a:t>
            </a:r>
            <a:br>
              <a:rPr lang="en-US" b="1" dirty="0"/>
            </a:br>
            <a:r>
              <a:rPr lang="en-US" b="1" dirty="0"/>
              <a:t>METODE PENELITIAN</a:t>
            </a:r>
            <a:endParaRPr lang="id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77619-9EA7-46DB-948C-822BB0948C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And Development</a:t>
            </a: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Metode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Penelitian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Pengembangan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merupakan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metode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digunakan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menghasilkan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tertentu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kemudian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menguji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tingkat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efektifitas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efisiensi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tersebut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id-ID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02308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F45CD-1FE1-4ECB-B989-CFBEF946C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Diagram </a:t>
            </a:r>
            <a:r>
              <a:rPr lang="en-US" b="1" dirty="0" err="1"/>
              <a:t>Alir</a:t>
            </a:r>
            <a:r>
              <a:rPr lang="en-US" b="1" dirty="0"/>
              <a:t> </a:t>
            </a:r>
            <a:r>
              <a:rPr lang="en-US" b="1" dirty="0" err="1"/>
              <a:t>Penelitian</a:t>
            </a:r>
            <a:endParaRPr lang="id-ID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E103810-0856-4848-BAB8-D87658B63791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2163" y="2108200"/>
            <a:ext cx="2948000" cy="376078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783413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581BC-3794-4ABA-8541-0BEC96F29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Pengumpulan</a:t>
            </a:r>
            <a:r>
              <a:rPr lang="en-US" b="1" dirty="0"/>
              <a:t> Data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08A166-9C20-4B14-8FA8-EB9C9CAA3B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Literatur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11425" indent="-357188"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Buku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11425" indent="-357188"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Jurnal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11425" indent="-357188"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Artikel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11425" indent="-357188">
              <a:buFont typeface="Arial" panose="020B0604020202020204" pitchFamily="34" charset="0"/>
              <a:buChar char="•"/>
            </a:pP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Datasheet</a:t>
            </a:r>
          </a:p>
          <a:p>
            <a:pPr marL="2511425" indent="-357188">
              <a:buFont typeface="Arial" panose="020B0604020202020204" pitchFamily="34" charset="0"/>
              <a:buChar char="•"/>
            </a:pP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book</a:t>
            </a:r>
          </a:p>
          <a:p>
            <a:pPr marL="2511425" indent="-357188"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Panalitian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sejenis</a:t>
            </a:r>
            <a:endParaRPr lang="id-ID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11742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4A144-8A09-46B0-99D2-87A3943D2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b">
            <a:normAutofit/>
          </a:bodyPr>
          <a:lstStyle/>
          <a:p>
            <a:r>
              <a:rPr lang="en-US" b="1" dirty="0" err="1"/>
              <a:t>Ilustrasi</a:t>
            </a:r>
            <a:r>
              <a:rPr lang="en-US" b="1" dirty="0"/>
              <a:t> </a:t>
            </a:r>
            <a:r>
              <a:rPr lang="en-US" b="1" dirty="0" err="1"/>
              <a:t>Sistem</a:t>
            </a:r>
            <a:endParaRPr lang="id-ID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89CF995-6077-4227-8C19-7205462618DF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056364" y="2108201"/>
            <a:ext cx="6140232" cy="37608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185113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97B48-54F7-4504-92B3-C60BA7A86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b">
            <a:normAutofit/>
          </a:bodyPr>
          <a:lstStyle/>
          <a:p>
            <a:r>
              <a:rPr lang="en-US" b="1" dirty="0" err="1"/>
              <a:t>Perancangan</a:t>
            </a:r>
            <a:r>
              <a:rPr lang="en-US" b="1" dirty="0"/>
              <a:t> Hardware</a:t>
            </a:r>
            <a:endParaRPr lang="id-ID" dirty="0"/>
          </a:p>
        </p:txBody>
      </p:sp>
      <p:pic>
        <p:nvPicPr>
          <p:cNvPr id="4" name="Content Placeholder 3" descr="Blok Diagram Hardware">
            <a:extLst>
              <a:ext uri="{FF2B5EF4-FFF2-40B4-BE49-F238E27FC236}">
                <a16:creationId xmlns:a16="http://schemas.microsoft.com/office/drawing/2014/main" id="{209213D4-ECDD-44DF-9D2C-51DD1232058F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2341584"/>
            <a:ext cx="10058400" cy="32941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623411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5D8E2-E930-43D3-AFDC-1CD33CFF3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Perancangan</a:t>
            </a:r>
            <a:r>
              <a:rPr lang="en-US" b="1" dirty="0"/>
              <a:t> Listing Program </a:t>
            </a:r>
            <a:r>
              <a:rPr lang="en-US" b="1" dirty="0" err="1"/>
              <a:t>Kontroler</a:t>
            </a:r>
            <a:endParaRPr lang="id-ID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CC731E5C-AA98-4A96-BF8E-7B6A33CC51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4406729"/>
              </p:ext>
            </p:extLst>
          </p:nvPr>
        </p:nvGraphicFramePr>
        <p:xfrm>
          <a:off x="4656221" y="2162091"/>
          <a:ext cx="2526632" cy="3871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4" name="Visio" r:id="rId3" imgW="6410171" imgH="9820439" progId="Visio.Drawing.15">
                  <p:embed/>
                </p:oleObj>
              </mc:Choice>
              <mc:Fallback>
                <p:oleObj name="Visio" r:id="rId3" imgW="6410171" imgH="9820439" progId="Visio.Drawing.15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27CF169A-55C6-445C-B0DB-6E88615E1DE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6221" y="2162091"/>
                        <a:ext cx="2526632" cy="387174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677099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4CEC5-C216-4361-AAA9-29D7A4F86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Perancangan</a:t>
            </a:r>
            <a:r>
              <a:rPr lang="en-US" b="1" dirty="0"/>
              <a:t> </a:t>
            </a:r>
            <a:r>
              <a:rPr lang="en-US" b="1" dirty="0" err="1"/>
              <a:t>Aplikasi</a:t>
            </a:r>
            <a:r>
              <a:rPr lang="en-US" b="1" dirty="0"/>
              <a:t> </a:t>
            </a:r>
            <a:r>
              <a:rPr lang="en-US" b="1" i="1" dirty="0"/>
              <a:t>Interface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C7A859-087B-4CF3-87FD-9968B9FAA7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</a:p>
          <a:p>
            <a:pPr marL="382588" lvl="1" indent="-382588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Android Studio IDE</a:t>
            </a:r>
          </a:p>
          <a:p>
            <a:pPr marL="382588" lvl="1" indent="-382588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</a:p>
          <a:p>
            <a:pPr marL="382588" lvl="1" indent="-382588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OOP (Object Oriented Programing)</a:t>
            </a:r>
          </a:p>
          <a:p>
            <a:pPr lvl="1"/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</a:t>
            </a:r>
          </a:p>
          <a:p>
            <a:pPr marL="382588" lvl="1" indent="-382588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</a:p>
          <a:p>
            <a:pPr marL="382588" lvl="1" indent="-382588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OOP (Object Oriented Programing)</a:t>
            </a:r>
          </a:p>
          <a:p>
            <a:pPr marL="382588" lvl="1" indent="-382588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MVC (Model-Views-Controller)</a:t>
            </a:r>
            <a:endParaRPr lang="id-ID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87933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7F520-4857-486A-B8E1-59B39131D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Diagram </a:t>
            </a:r>
            <a:r>
              <a:rPr lang="en-US" b="1" dirty="0" err="1"/>
              <a:t>Alir</a:t>
            </a:r>
            <a:r>
              <a:rPr lang="en-US" b="1" dirty="0"/>
              <a:t> </a:t>
            </a:r>
            <a:r>
              <a:rPr lang="en-US" b="1" dirty="0" err="1"/>
              <a:t>Aplikasi</a:t>
            </a:r>
            <a:r>
              <a:rPr lang="en-US" b="1" dirty="0"/>
              <a:t> </a:t>
            </a:r>
            <a:r>
              <a:rPr lang="en-US" b="1" i="1" dirty="0"/>
              <a:t>Interface</a:t>
            </a:r>
            <a:endParaRPr lang="id-ID" b="1" i="1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E4D611F-0BC0-459A-ACCE-F343CD4BF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ED4675D6-3FC3-4AA9-9B4F-1E8C7DDA83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7702105"/>
              </p:ext>
            </p:extLst>
          </p:nvPr>
        </p:nvGraphicFramePr>
        <p:xfrm>
          <a:off x="1854025" y="2023962"/>
          <a:ext cx="1510244" cy="432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3" name="Visio" r:id="rId3" imgW="2467006" imgH="7038811" progId="Visio.Drawing.15">
                  <p:embed/>
                </p:oleObj>
              </mc:Choice>
              <mc:Fallback>
                <p:oleObj name="Visio" r:id="rId3" imgW="2467006" imgH="7038811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4025" y="2023962"/>
                        <a:ext cx="1510244" cy="43200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4">
            <a:extLst>
              <a:ext uri="{FF2B5EF4-FFF2-40B4-BE49-F238E27FC236}">
                <a16:creationId xmlns:a16="http://schemas.microsoft.com/office/drawing/2014/main" id="{3A6CBEFF-D002-4366-A4B9-BB083BC29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40690E8D-2030-4615-9637-DAAFD88BE8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1794987"/>
              </p:ext>
            </p:extLst>
          </p:nvPr>
        </p:nvGraphicFramePr>
        <p:xfrm>
          <a:off x="3519915" y="2023962"/>
          <a:ext cx="1261314" cy="432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4" name="Visio" r:id="rId5" imgW="1847542" imgH="6829425" progId="Visio.Drawing.15">
                  <p:embed/>
                </p:oleObj>
              </mc:Choice>
              <mc:Fallback>
                <p:oleObj name="Visio" r:id="rId5" imgW="1847542" imgH="6829425" progId="Visio.Drawing.15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9915" y="2023962"/>
                        <a:ext cx="1261314" cy="4320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6">
            <a:extLst>
              <a:ext uri="{FF2B5EF4-FFF2-40B4-BE49-F238E27FC236}">
                <a16:creationId xmlns:a16="http://schemas.microsoft.com/office/drawing/2014/main" id="{C570F9C4-C2BB-4254-94F4-6F5DB71352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6717" y="77776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2B685FF1-26FE-42EB-A51B-9AF3E3729A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9246158"/>
              </p:ext>
            </p:extLst>
          </p:nvPr>
        </p:nvGraphicFramePr>
        <p:xfrm>
          <a:off x="4936875" y="2023962"/>
          <a:ext cx="1584195" cy="432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5" name="Visio" r:id="rId7" imgW="2781177" imgH="7848764" progId="Visio.Drawing.15">
                  <p:embed/>
                </p:oleObj>
              </mc:Choice>
              <mc:Fallback>
                <p:oleObj name="Visio" r:id="rId7" imgW="2781177" imgH="7848764" progId="Visio.Drawing.15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6875" y="2023962"/>
                        <a:ext cx="1584195" cy="4320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8">
            <a:extLst>
              <a:ext uri="{FF2B5EF4-FFF2-40B4-BE49-F238E27FC236}">
                <a16:creationId xmlns:a16="http://schemas.microsoft.com/office/drawing/2014/main" id="{7232D66F-3B84-4DD2-8570-30690A3C6D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3669" y="126892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AA945A56-0D81-4EFC-AD95-E2308A82C2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9420238"/>
              </p:ext>
            </p:extLst>
          </p:nvPr>
        </p:nvGraphicFramePr>
        <p:xfrm>
          <a:off x="6676716" y="2023962"/>
          <a:ext cx="1505796" cy="432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6" name="Visio" r:id="rId9" imgW="3457359" imgH="10287000" progId="Visio.Drawing.15">
                  <p:embed/>
                </p:oleObj>
              </mc:Choice>
              <mc:Fallback>
                <p:oleObj name="Visio" r:id="rId9" imgW="3457359" imgH="10287000" progId="Visio.Drawing.15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6716" y="2023962"/>
                        <a:ext cx="1505796" cy="4320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0">
            <a:extLst>
              <a:ext uri="{FF2B5EF4-FFF2-40B4-BE49-F238E27FC236}">
                <a16:creationId xmlns:a16="http://schemas.microsoft.com/office/drawing/2014/main" id="{039B908B-9F2E-4E6D-8A35-77CCD57662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51379" y="45194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FAE618CF-C82E-41E4-A823-A153EABAA31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5866402"/>
              </p:ext>
            </p:extLst>
          </p:nvPr>
        </p:nvGraphicFramePr>
        <p:xfrm>
          <a:off x="8338158" y="2023962"/>
          <a:ext cx="1148010" cy="432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7" name="Visio" r:id="rId11" imgW="2429029" imgH="9191789" progId="Visio.Drawing.15">
                  <p:embed/>
                </p:oleObj>
              </mc:Choice>
              <mc:Fallback>
                <p:oleObj name="Visio" r:id="rId11" imgW="2429029" imgH="9191789" progId="Visio.Drawing.15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38158" y="2023962"/>
                        <a:ext cx="1148010" cy="4320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305679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80948-52DB-4A9E-9D5E-BB422F086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b">
            <a:normAutofit/>
          </a:bodyPr>
          <a:lstStyle/>
          <a:p>
            <a:r>
              <a:rPr lang="en-US" b="1" dirty="0" err="1"/>
              <a:t>Sketsa</a:t>
            </a:r>
            <a:r>
              <a:rPr lang="en-US" b="1" dirty="0"/>
              <a:t> </a:t>
            </a:r>
            <a:r>
              <a:rPr lang="en-US" b="1" dirty="0" err="1"/>
              <a:t>Aplikasi</a:t>
            </a:r>
            <a:r>
              <a:rPr lang="en-US" b="1" dirty="0"/>
              <a:t> </a:t>
            </a:r>
            <a:r>
              <a:rPr lang="en-US" b="1" i="1" dirty="0"/>
              <a:t>Interface</a:t>
            </a:r>
            <a:endParaRPr lang="id-ID" b="1" i="1" dirty="0"/>
          </a:p>
        </p:txBody>
      </p:sp>
      <p:pic>
        <p:nvPicPr>
          <p:cNvPr id="4" name="Graphic 6">
            <a:extLst>
              <a:ext uri="{FF2B5EF4-FFF2-40B4-BE49-F238E27FC236}">
                <a16:creationId xmlns:a16="http://schemas.microsoft.com/office/drawing/2014/main" id="{A137CC6F-8EFF-4784-94A8-FBEE9B5298D6}"/>
              </a:ext>
            </a:extLst>
          </p:cNvPr>
          <p:cNvPicPr>
            <a:picLocks noGrp="1"/>
          </p:cNvPicPr>
          <p:nvPr>
            <p:ph sz="half"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7280" y="2120900"/>
            <a:ext cx="1874096" cy="3748193"/>
          </a:xfrm>
        </p:spPr>
      </p:pic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7E6FF662-A0C8-40F0-BBF8-AC1B2816C5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15862" y="2120900"/>
            <a:ext cx="7739818" cy="3748194"/>
          </a:xfrm>
        </p:spPr>
        <p:txBody>
          <a:bodyPr>
            <a:normAutofit/>
          </a:bodyPr>
          <a:lstStyle/>
          <a:p>
            <a:pPr marL="357188" lvl="0" indent="-357188"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Operasi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: Android 4.4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Kitkat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lebih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baru</a:t>
            </a:r>
            <a:endParaRPr lang="id-ID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7188" lvl="0" indent="-357188"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Resolusi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layar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: 1080px*720px</a:t>
            </a:r>
            <a:endParaRPr lang="id-ID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7188" lvl="0" indent="-357188"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Koneksi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Internet</a:t>
            </a:r>
            <a:endParaRPr lang="id-ID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7188" lvl="0" indent="-357188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 Mb RAM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tersedia</a:t>
            </a:r>
            <a:endParaRPr lang="id-ID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76620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80948-52DB-4A9E-9D5E-BB422F086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b">
            <a:normAutofit/>
          </a:bodyPr>
          <a:lstStyle/>
          <a:p>
            <a:r>
              <a:rPr lang="en-US" b="1" dirty="0" err="1"/>
              <a:t>Sketsa</a:t>
            </a:r>
            <a:r>
              <a:rPr lang="en-US" b="1" dirty="0"/>
              <a:t> </a:t>
            </a:r>
            <a:r>
              <a:rPr lang="en-US" b="1" dirty="0" err="1"/>
              <a:t>Aplikasi</a:t>
            </a:r>
            <a:r>
              <a:rPr lang="en-US" b="1" dirty="0"/>
              <a:t> </a:t>
            </a:r>
            <a:r>
              <a:rPr lang="en-US" b="1" i="1" dirty="0"/>
              <a:t>Interface</a:t>
            </a:r>
            <a:endParaRPr lang="id-ID" b="1" i="1" dirty="0"/>
          </a:p>
        </p:txBody>
      </p:sp>
      <p:pic>
        <p:nvPicPr>
          <p:cNvPr id="7" name="Graphic 22">
            <a:extLst>
              <a:ext uri="{FF2B5EF4-FFF2-40B4-BE49-F238E27FC236}">
                <a16:creationId xmlns:a16="http://schemas.microsoft.com/office/drawing/2014/main" id="{84CA9F29-CB25-4230-BD83-22C336596D2B}"/>
              </a:ext>
            </a:extLst>
          </p:cNvPr>
          <p:cNvPicPr>
            <a:picLocks noGrp="1"/>
          </p:cNvPicPr>
          <p:nvPr>
            <p:ph sz="half"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7280" y="2554667"/>
            <a:ext cx="4640262" cy="2880660"/>
          </a:xfrm>
        </p:spPr>
      </p:pic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D55A59F7-061B-4C37-BC3A-B9B13D109D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33241" y="2554666"/>
            <a:ext cx="5322439" cy="3314427"/>
          </a:xfrm>
        </p:spPr>
        <p:txBody>
          <a:bodyPr>
            <a:normAutofit/>
          </a:bodyPr>
          <a:lstStyle/>
          <a:p>
            <a:pPr lvl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Browser 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(Chrome, Firefox, Safari, Edge).</a:t>
            </a:r>
            <a:endParaRPr lang="id-ID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Resolusi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Layar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: 1024px*786px.</a:t>
            </a:r>
            <a:endParaRPr lang="id-ID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Koneksi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Internet	: 265kbps</a:t>
            </a:r>
            <a:endParaRPr lang="id-ID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67574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41E21570-DA29-4742-A702-C10D89C10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pPr algn="ctr"/>
            <a:r>
              <a:rPr lang="en-US" b="1" i="1" dirty="0"/>
              <a:t>Main Menu</a:t>
            </a:r>
          </a:p>
        </p:txBody>
      </p:sp>
      <p:pic>
        <p:nvPicPr>
          <p:cNvPr id="5" name="Graphic 25">
            <a:extLst>
              <a:ext uri="{FF2B5EF4-FFF2-40B4-BE49-F238E27FC236}">
                <a16:creationId xmlns:a16="http://schemas.microsoft.com/office/drawing/2014/main" id="{C9E26201-EF9C-44CE-AFDF-634661314380}"/>
              </a:ext>
            </a:extLst>
          </p:cNvPr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41106" y="2108201"/>
            <a:ext cx="7770747" cy="3760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998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90522-7517-411D-9E1C-29BAEED13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Pengujian</a:t>
            </a:r>
            <a:r>
              <a:rPr lang="en-US" dirty="0"/>
              <a:t> </a:t>
            </a:r>
            <a:r>
              <a:rPr lang="en-US" dirty="0" err="1"/>
              <a:t>Sistem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A6A42-AA3A-4A63-863E-CA3105CC1F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66160"/>
            <a:ext cx="4998720" cy="3760891"/>
          </a:xfrm>
        </p:spPr>
        <p:txBody>
          <a:bodyPr>
            <a:normAutofit/>
          </a:bodyPr>
          <a:lstStyle/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</a:p>
          <a:p>
            <a:pPr lvl="1"/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Akurasi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Delay/Latency</a:t>
            </a:r>
          </a:p>
          <a:p>
            <a:pPr lvl="1"/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Konsumsi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daya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Durbilitas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Rasio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Error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11F6182-5DF8-4CC9-956D-CEE233096955}"/>
              </a:ext>
            </a:extLst>
          </p:cNvPr>
          <p:cNvSpPr txBox="1">
            <a:spLocks/>
          </p:cNvSpPr>
          <p:nvPr/>
        </p:nvSpPr>
        <p:spPr>
          <a:xfrm>
            <a:off x="6096000" y="2218560"/>
            <a:ext cx="5212080" cy="3760891"/>
          </a:xfrm>
          <a:prstGeom prst="rect">
            <a:avLst/>
          </a:prstGeom>
        </p:spPr>
        <p:txBody>
          <a:bodyPr vert="horz" lIns="0" tIns="45720" rIns="0" bIns="45720" rtlCol="0">
            <a:normAutofit fontScale="92500" lnSpcReduction="20000"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</a:p>
          <a:p>
            <a:pPr lvl="1"/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Akurasi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Delay/Latency</a:t>
            </a:r>
          </a:p>
          <a:p>
            <a:pPr lvl="1"/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Penggunaan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Waktu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pemrosesan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transmisi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1168" lvl="1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Kemudahan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Experience (UX)</a:t>
            </a:r>
          </a:p>
          <a:p>
            <a:pPr lvl="1"/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Kehandalan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Kebergunaan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Kemanan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7444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892168"/>
          </a:xfrm>
        </p:spPr>
        <p:txBody>
          <a:bodyPr anchor="ctr">
            <a:normAutofit/>
          </a:bodyPr>
          <a:lstStyle/>
          <a:p>
            <a:pPr lvl="0" algn="ctr"/>
            <a:r>
              <a:rPr lang="en-US" sz="4800" i="1" dirty="0">
                <a:solidFill>
                  <a:srgbClr val="FFFFFF"/>
                </a:solidFill>
              </a:rPr>
              <a:t>Thanks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5225240"/>
            <a:ext cx="10058400" cy="1143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- Kelvin </a:t>
            </a:r>
            <a:r>
              <a:rPr lang="en-US" dirty="0" err="1">
                <a:solidFill>
                  <a:srgbClr val="FFFFFF"/>
                </a:solidFill>
              </a:rPr>
              <a:t>anggara</a:t>
            </a:r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714609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769520F8-BFE5-4C8C-A7AA-375C025A91CE}" vid="{AEAFD717-D3C8-4034-8F7E-D5220B0CCEB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468</Words>
  <Application>Microsoft Office PowerPoint</Application>
  <PresentationFormat>Widescreen</PresentationFormat>
  <Paragraphs>100</Paragraphs>
  <Slides>21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Bookman Old Style</vt:lpstr>
      <vt:lpstr>Calibri</vt:lpstr>
      <vt:lpstr>Franklin Gothic Book</vt:lpstr>
      <vt:lpstr>Times New Roman</vt:lpstr>
      <vt:lpstr>1_RetrospectVTI</vt:lpstr>
      <vt:lpstr>Microsoft Visio Drawing</vt:lpstr>
      <vt:lpstr>Proprsal Tugas Akhir</vt:lpstr>
      <vt:lpstr>I Latar Belakang</vt:lpstr>
      <vt:lpstr>Rumusan Masalah</vt:lpstr>
      <vt:lpstr>Tujuan Penelitian</vt:lpstr>
      <vt:lpstr>Batasan Masalah</vt:lpstr>
      <vt:lpstr>Manfaat Penelitian</vt:lpstr>
      <vt:lpstr>II TINJAUAN PUSTAKA</vt:lpstr>
      <vt:lpstr>II TINJAUAN PUSTAKA (lanjutan)</vt:lpstr>
      <vt:lpstr>III METODE PENELITIAN</vt:lpstr>
      <vt:lpstr>Diagram Alir Penelitian</vt:lpstr>
      <vt:lpstr>Pengumpulan Data</vt:lpstr>
      <vt:lpstr>Ilustrasi Sistem</vt:lpstr>
      <vt:lpstr>Perancangan Hardware</vt:lpstr>
      <vt:lpstr>Perancangan Listing Program Kontroler</vt:lpstr>
      <vt:lpstr>Perancangan Aplikasi Interface</vt:lpstr>
      <vt:lpstr>Diagram Alir Aplikasi Interface</vt:lpstr>
      <vt:lpstr>Sketsa Aplikasi Interface</vt:lpstr>
      <vt:lpstr>Sketsa Aplikasi Interface</vt:lpstr>
      <vt:lpstr>Main Menu</vt:lpstr>
      <vt:lpstr>Pengujian Sistem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2020-06-09T21:47:20Z</dcterms:created>
  <dcterms:modified xsi:type="dcterms:W3CDTF">2020-06-09T22:09:19Z</dcterms:modified>
</cp:coreProperties>
</file>